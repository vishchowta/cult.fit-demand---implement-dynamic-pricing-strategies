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5" r:id="rId9"/>
    <p:sldId id="267" r:id="rId10"/>
    <p:sldId id="268" r:id="rId11"/>
    <p:sldId id="26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660028-FB4C-4E40-8BC8-35401D5324E8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437B38-E431-4C18-BA0E-E9809D6DBF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18725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6B46C-B9C5-1BF7-D9D1-0861C1056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FADFC9-2209-92A9-DCB9-F1F631CC16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317EA3-4C5B-A3CC-7A63-B076DFDBB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7CA5B-2DD3-4BB9-BD9F-8CD3AFD4337B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BCE47-D49A-05AC-6CDC-83CD4F65B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482519-84A5-C49D-F879-19A886F57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E86B0-F25D-410F-ACE4-E81014B94C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0189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FE103-7C3C-52CF-A5FB-2CACFE758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3113E-759C-A49A-42B6-DFA72C4A51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A56193-C762-A7CC-A38E-6322F7AE4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7CA5B-2DD3-4BB9-BD9F-8CD3AFD4337B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76847-7FF1-AED7-6D42-A9B5E0AC2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EF8947-1698-09AE-8366-756615C51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E86B0-F25D-410F-ACE4-E81014B94C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2232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2A174-7454-6760-116A-C9A01FD8D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6381BB-16A4-8ED1-D7FB-481BCF20EE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0852CE-03D2-E413-D4A9-A038E22C5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7CA5B-2DD3-4BB9-BD9F-8CD3AFD4337B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EB0FDB-D5CE-AA93-9DB1-851829B31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0FB133-2EAB-592F-6A33-478CAF5A1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E86B0-F25D-410F-ACE4-E81014B94C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4342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22450-CF68-46E8-754E-590A5BDF6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0B737-831C-F778-0BF1-0992B3D279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78FC9C-9DFD-32C1-904B-451BB0420F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4D3472-0D11-D79A-90B2-1C4AC8872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7CA5B-2DD3-4BB9-BD9F-8CD3AFD4337B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80B0FC-E116-C573-931D-DC5F8CAD8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111AAE-4669-30A3-939E-6BC02C8B3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E86B0-F25D-410F-ACE4-E81014B94C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0437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FEA04-B577-5A27-C2C1-195D3DD5C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113A48-BFB9-ED77-3917-910449514F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DE40DA-A83E-D2A2-6D48-E94FC19058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79CB3F-EA16-3493-8187-92FE550F95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CC961C-A2A8-FFFF-93C9-B7E832AE87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1F5B72-753F-541D-1B5C-5902A4176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7CA5B-2DD3-4BB9-BD9F-8CD3AFD4337B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030A83-0A88-F3C4-D5E6-3FDF75FE2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991A9C-6952-297D-427B-9F705ACD4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E86B0-F25D-410F-ACE4-E81014B94C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84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719A1-1D3C-9D38-FF2A-52AFDA77D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20EF35-186D-14C2-C304-D1E86BAEC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7CA5B-2DD3-4BB9-BD9F-8CD3AFD4337B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D18414-C821-59F7-D9AC-B93BB70D5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D9D771-B9B1-B1FE-640D-18B47972D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E86B0-F25D-410F-ACE4-E81014B94C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8623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1D5A11-D03D-7929-7AC0-F9EA6B4F6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7CA5B-2DD3-4BB9-BD9F-8CD3AFD4337B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C135B4-603E-5D09-524B-3D3A9934F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1F3CA3-D537-313B-70D1-524518AD8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E86B0-F25D-410F-ACE4-E81014B94C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19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9828B-D5DF-9FDA-1747-B670C7E04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9F4B63-153D-9A77-C0B9-D00DE36E22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96AABE-F8B0-387D-2679-B2FE3D6B6D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DA23D2-6459-5578-004F-935B9E734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7CA5B-2DD3-4BB9-BD9F-8CD3AFD4337B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5CD1EC-FA78-BA79-4FBA-4416F5A09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5F003C-B980-58C3-F91D-43DF14C53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E86B0-F25D-410F-ACE4-E81014B94C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3646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D1F20-0B6A-3F30-1E0A-C70CAA2A1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9EEE2C-39D7-6B9A-CD65-B215EF4FF6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8C04B6-76D1-CBBB-BB6E-9155CD5732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E96CBF-06B2-7F51-86DF-5D83E9F3B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7CA5B-2DD3-4BB9-BD9F-8CD3AFD4337B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EACAAB-CCC4-89D8-AB82-534EB32E6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CEF1F2-615F-238B-2870-0FE16EFA2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E86B0-F25D-410F-ACE4-E81014B94C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3340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77D85-8295-6475-11B8-6E305A792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40534B-E5DC-30ED-BDA0-868E3C1687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B13F4E-6422-A324-4F5F-4DFC7B2E6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7CA5B-2DD3-4BB9-BD9F-8CD3AFD4337B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795797-F9A3-1D29-6387-0C0FDC342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C1798C-701C-2E2C-515A-46A6851D7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E86B0-F25D-410F-ACE4-E81014B94C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8473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9E1656-165E-4A15-869B-050BDBABE8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2A9EC0-CB1E-CD25-0439-AF8203CB7E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38B1F3-E012-5314-B00D-FD7F6A29D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7CA5B-2DD3-4BB9-BD9F-8CD3AFD4337B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73774A-C5AD-552B-3EE0-2B1FD261B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4A2495-759E-57BD-9FDF-89A3C8B82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E86B0-F25D-410F-ACE4-E81014B94C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9631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9E40CB-9615-64D4-712D-062BB8E7E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63D2DE-6138-8B19-C252-8311C25393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D09750-6D1A-CA5E-8725-3E41DA300C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A7CA5B-2DD3-4BB9-BD9F-8CD3AFD4337B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F92355-68C8-5140-61EC-C0E4D7C187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7DAE-C814-25E2-D611-4E581EF686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E86B0-F25D-410F-ACE4-E81014B94C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9059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59ABF-79C6-77C3-02BD-F0F1EFCEC4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4969"/>
            <a:ext cx="9144000" cy="1002890"/>
          </a:xfrm>
        </p:spPr>
        <p:txBody>
          <a:bodyPr>
            <a:normAutofit/>
          </a:bodyPr>
          <a:lstStyle/>
          <a:p>
            <a:r>
              <a:rPr lang="en-IN" sz="4400" dirty="0"/>
              <a:t>Dynamic Pricing Recommendations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38F787-1483-064F-B98E-47F086EDE5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868129"/>
            <a:ext cx="9144000" cy="3389671"/>
          </a:xfrm>
        </p:spPr>
        <p:txBody>
          <a:bodyPr>
            <a:normAutofit/>
          </a:bodyPr>
          <a:lstStyle/>
          <a:p>
            <a:endParaRPr lang="en-IN" dirty="0"/>
          </a:p>
          <a:p>
            <a:r>
              <a:rPr lang="en-US" b="1" dirty="0"/>
              <a:t>Dynamic Pricing Strategy — Recommendations &amp; Implementation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1800" dirty="0">
                <a:effectLst/>
              </a:rPr>
              <a:t>The presentation focuses on increasing revenue per class (through optimized pricing. It draws directly from the EDA (demand patterns, high-value classes), the dynamic pricing (elasticity, forecasts, revenue projections), and the dataset (historical trends).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02419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F0CCA-040A-3A6C-3F86-7E43B77D5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8EE703-4E1F-C45D-3753-65CE3C64B3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200" dirty="0"/>
          </a:p>
          <a:p>
            <a:r>
              <a:rPr lang="en-US" sz="2200" dirty="0"/>
              <a:t>Based on the analysis of </a:t>
            </a:r>
            <a:r>
              <a:rPr lang="en-US" sz="2200" b="1" dirty="0"/>
              <a:t>3,271 historical classes</a:t>
            </a:r>
            <a:r>
              <a:rPr lang="en-US" sz="2200" dirty="0"/>
              <a:t>, demand modeling, and a price-elasticity-based dynamic pricing algorithm:</a:t>
            </a:r>
          </a:p>
          <a:p>
            <a:r>
              <a:rPr lang="en-US" sz="2200" b="1" dirty="0"/>
              <a:t>Key Conclusions</a:t>
            </a:r>
          </a:p>
          <a:p>
            <a:r>
              <a:rPr lang="en-US" sz="2200" b="1" dirty="0"/>
              <a:t>Demand is INELASTIC (Elasticity = -0.2218)</a:t>
            </a:r>
            <a:br>
              <a:rPr lang="en-US" sz="2200" dirty="0"/>
            </a:br>
            <a:r>
              <a:rPr lang="en-US" sz="2200" dirty="0"/>
              <a:t>→ Prices can be increased significantly with minimal drop in bookings</a:t>
            </a:r>
          </a:p>
          <a:p>
            <a:r>
              <a:rPr lang="en-US" sz="2200" b="1" dirty="0"/>
              <a:t>High-demand classes (80%+ occupancy)</a:t>
            </a:r>
            <a:r>
              <a:rPr lang="en-US" sz="2200" dirty="0"/>
              <a:t> can absorb </a:t>
            </a:r>
            <a:r>
              <a:rPr lang="en-US" sz="2200" b="1" dirty="0"/>
              <a:t>20–30% price increases</a:t>
            </a:r>
            <a:endParaRPr lang="en-US" sz="2200" dirty="0"/>
          </a:p>
          <a:p>
            <a:r>
              <a:rPr lang="en-US" sz="2200" b="1" dirty="0"/>
              <a:t>Morning (6–8 AM) &amp; Evening (7 PM)</a:t>
            </a:r>
            <a:r>
              <a:rPr lang="en-US" sz="2200" dirty="0"/>
              <a:t> slots have consistently high occupancy</a:t>
            </a:r>
          </a:p>
          <a:p>
            <a:r>
              <a:rPr lang="en-US" sz="2200" b="1" dirty="0"/>
              <a:t>Weekend (Fri–Sun)</a:t>
            </a:r>
            <a:r>
              <a:rPr lang="en-US" sz="2200" dirty="0"/>
              <a:t> classes can support additional </a:t>
            </a:r>
            <a:r>
              <a:rPr lang="en-US" sz="2200" b="1" dirty="0"/>
              <a:t>10–20% pricing uplift</a:t>
            </a:r>
            <a:endParaRPr lang="en-US" sz="2200" dirty="0"/>
          </a:p>
          <a:p>
            <a:r>
              <a:rPr lang="en-US" sz="2200" dirty="0"/>
              <a:t>Dynamic pricing simulation shows </a:t>
            </a:r>
            <a:r>
              <a:rPr lang="en-US" sz="2200" b="1" dirty="0"/>
              <a:t>+20% to +35% total revenue uplift</a:t>
            </a:r>
            <a:endParaRPr lang="en-US" sz="22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11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63484-F75F-1A6C-3885-479D35BB8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b="1" dirty="0">
                <a:latin typeface="Arial" panose="020B0604020202020204" pitchFamily="34" charset="0"/>
              </a:rPr>
              <a:t>Understanding the Data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210E5FB-326E-A525-1120-CB2DFAB7B1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708632"/>
            <a:ext cx="1051560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 Highlights: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3,271 rows, 13 features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missing values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Mean occupancy ≈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57.2%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strong baseline demand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Categorical insights: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Activity sites distributed across 5 key centers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Demand highest Tue/Wed/Thu; lowest Sat/Sun (activity volume)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utilization highest on Sunday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19657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8531A-3A95-C382-A86A-C35D54118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latin typeface="Arial" panose="020B0604020202020204" pitchFamily="34" charset="0"/>
              </a:rPr>
              <a:t>Demand Behavior</a:t>
            </a:r>
            <a:br>
              <a:rPr lang="en-US" altLang="en-US" b="1" dirty="0">
                <a:latin typeface="Arial" panose="020B0604020202020204" pitchFamily="34" charset="0"/>
              </a:rPr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E07704C-3B98-B755-6791-6A11E6B9D60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77636"/>
            <a:ext cx="9211817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⭐ Day of Week Utilization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Sunday highest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occupancy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Monday &amp; Thursday lowest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Mid-week stable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⭐ Hour-of-Day Demand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Peak demand: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 AM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 AM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 PM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Lowest demand: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2 PM–4 PM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⭐ Seasonal Trend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Weeks 13→26 show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declining occupancy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opportunity for seasonal dynamic pricing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3294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3E539-A4AB-BCEE-4BAF-7500C5D45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latin typeface="Arial" panose="020B0604020202020204" pitchFamily="34" charset="0"/>
              </a:rPr>
              <a:t>High-Demand Classes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5214842-74AA-B254-F2C1-149AADAF5DE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570134"/>
            <a:ext cx="9701981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Classes repeatedly appearing with highest utilization: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Aquafit (multiple sessions) — strongest performer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Body Combat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Pilates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Zumba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sessions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📌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These are prime candidates for aggressive pricing increases.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098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26701-E614-A09D-0FFC-52785EB8E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Dynamic Pricing Model Summary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C0447F-C761-46F4-5512-9BF9D21DB1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 Model uses: </a:t>
            </a:r>
          </a:p>
          <a:p>
            <a:r>
              <a:rPr lang="en-US" dirty="0"/>
              <a:t>Forecasted occupancy</a:t>
            </a:r>
          </a:p>
          <a:p>
            <a:r>
              <a:rPr lang="en-US" dirty="0"/>
              <a:t>Time-of-day demand patterns</a:t>
            </a:r>
          </a:p>
          <a:p>
            <a:r>
              <a:rPr lang="en-US" dirty="0"/>
              <a:t>Day-of-week patterns</a:t>
            </a:r>
          </a:p>
          <a:p>
            <a:r>
              <a:rPr lang="en-US" dirty="0"/>
              <a:t>Price elasticity integration</a:t>
            </a:r>
          </a:p>
          <a:p>
            <a:r>
              <a:rPr lang="en-US" dirty="0"/>
              <a:t>Revenue simulation</a:t>
            </a:r>
          </a:p>
          <a:p>
            <a:pPr marL="0" indent="0">
              <a:buNone/>
            </a:pPr>
            <a:r>
              <a:rPr lang="en-US" b="1" dirty="0"/>
              <a:t>Pricing multipliers:</a:t>
            </a:r>
          </a:p>
          <a:p>
            <a:r>
              <a:rPr lang="en-US" dirty="0"/>
              <a:t>High demand (&gt;80%) → +25%</a:t>
            </a:r>
          </a:p>
          <a:p>
            <a:r>
              <a:rPr lang="en-US" dirty="0"/>
              <a:t>Peak hours (6–8 AM, 7 PM) → +5% to +15%</a:t>
            </a:r>
          </a:p>
          <a:p>
            <a:r>
              <a:rPr lang="en-US" dirty="0"/>
              <a:t>Weekends → +10%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21500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44443-9C25-259B-B016-A1524D0D6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Price Elasticity Insight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5BE47-183E-A36D-6632-6851BA1661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From your dynamic pricing model:</a:t>
            </a:r>
          </a:p>
          <a:p>
            <a:r>
              <a:rPr lang="en-US" sz="1800" dirty="0"/>
              <a:t>Elasticity = -0.2218</a:t>
            </a:r>
          </a:p>
          <a:p>
            <a:r>
              <a:rPr lang="en-US" sz="1800" b="1" dirty="0"/>
              <a:t>Meaning:</a:t>
            </a:r>
          </a:p>
          <a:p>
            <a:r>
              <a:rPr lang="en-US" sz="1800" dirty="0"/>
              <a:t>A 10% price increase → only 2.2% drop in demand</a:t>
            </a:r>
          </a:p>
          <a:p>
            <a:r>
              <a:rPr lang="en-US" sz="1800" dirty="0"/>
              <a:t>A 20% increase → ≈4.4% drop</a:t>
            </a:r>
          </a:p>
          <a:p>
            <a:r>
              <a:rPr lang="en-US" sz="1800" dirty="0"/>
              <a:t>A 30% increase → ≈6.7% drop</a:t>
            </a:r>
          </a:p>
          <a:p>
            <a:r>
              <a:rPr lang="en-US" sz="1800" b="1" dirty="0"/>
              <a:t>📌 Interpretation:</a:t>
            </a:r>
          </a:p>
          <a:p>
            <a:r>
              <a:rPr lang="en-US" sz="1800" dirty="0"/>
              <a:t>Demand is strongly INELASTIC → customers accept price hikes.</a:t>
            </a:r>
            <a:br>
              <a:rPr lang="en-US" sz="1800" dirty="0"/>
            </a:br>
            <a:r>
              <a:rPr lang="en-US" sz="1800" dirty="0"/>
              <a:t>Therefore…</a:t>
            </a:r>
          </a:p>
          <a:p>
            <a:r>
              <a:rPr lang="en-US" sz="1800" dirty="0"/>
              <a:t>➡ </a:t>
            </a:r>
            <a:r>
              <a:rPr lang="en-US" sz="1800" b="1" dirty="0"/>
              <a:t>Revenue increases MORE from price hikes than it decreases from booking loss</a:t>
            </a:r>
            <a:r>
              <a:rPr lang="en-US" sz="1800" dirty="0"/>
              <a:t>.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1948778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4E916-5211-D02B-11C3-3920830D4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2094269"/>
          </a:xfrm>
        </p:spPr>
        <p:txBody>
          <a:bodyPr>
            <a:normAutofit fontScale="90000"/>
          </a:bodyPr>
          <a:lstStyle/>
          <a:p>
            <a:br>
              <a:rPr lang="en-IN" dirty="0"/>
            </a:br>
            <a:r>
              <a:rPr lang="en-IN" dirty="0"/>
              <a:t>Example Pricing Outcome</a:t>
            </a:r>
            <a:br>
              <a:rPr lang="en-IN" dirty="0"/>
            </a:br>
            <a:br>
              <a:rPr lang="en-IN" dirty="0"/>
            </a:br>
            <a:r>
              <a:rPr lang="en-IN" sz="1800" b="1" dirty="0"/>
              <a:t>Example= </a:t>
            </a:r>
            <a:r>
              <a:rPr lang="en-US" sz="2000" b="1" dirty="0"/>
              <a:t>20-20-20 2.45pm-3.45pm (Activity) </a:t>
            </a:r>
            <a:br>
              <a:rPr lang="en-US" sz="2000" b="1" dirty="0"/>
            </a:br>
            <a:r>
              <a:rPr lang="en-US" sz="1800" dirty="0">
                <a:latin typeface="+mn-lt"/>
              </a:rPr>
              <a:t>Current price </a:t>
            </a:r>
            <a:r>
              <a:rPr lang="en-US" sz="1800" b="1" dirty="0">
                <a:latin typeface="+mn-lt"/>
              </a:rPr>
              <a:t>- </a:t>
            </a:r>
            <a:r>
              <a:rPr lang="en-IN" sz="2000" dirty="0">
                <a:latin typeface="+mn-lt"/>
              </a:rPr>
              <a:t>₹499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5830DA-66D6-C614-B6FC-66EFBCE1AA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79405"/>
            <a:ext cx="3252018" cy="25067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10% Price Increase</a:t>
            </a:r>
            <a:r>
              <a:rPr lang="en-US" b="1" dirty="0"/>
              <a:t>: </a:t>
            </a:r>
          </a:p>
          <a:p>
            <a:pPr marL="0" indent="0">
              <a:buNone/>
            </a:pPr>
            <a:r>
              <a:rPr lang="en-US" sz="2000" dirty="0"/>
              <a:t>• New Price: ₹549 </a:t>
            </a:r>
          </a:p>
          <a:p>
            <a:pPr marL="0" indent="0">
              <a:buNone/>
            </a:pPr>
            <a:r>
              <a:rPr lang="en-US" sz="2000" dirty="0"/>
              <a:t>• Demand Drop: 2.2% </a:t>
            </a:r>
          </a:p>
          <a:p>
            <a:pPr marL="0" indent="0">
              <a:buNone/>
            </a:pPr>
            <a:r>
              <a:rPr lang="en-US" sz="2000" dirty="0"/>
              <a:t>• New Bookings: 11.7 </a:t>
            </a:r>
          </a:p>
          <a:p>
            <a:pPr marL="0" indent="0">
              <a:buNone/>
            </a:pPr>
            <a:r>
              <a:rPr lang="en-US" sz="2000" dirty="0"/>
              <a:t>• Revenue Increase: +7.6%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515FF9-6BE4-DA3B-28FB-6F5609DB8B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101784" y="2428907"/>
            <a:ext cx="4326191" cy="44862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30% Price Increase: </a:t>
            </a:r>
          </a:p>
          <a:p>
            <a:pPr marL="0" indent="0">
              <a:buNone/>
            </a:pPr>
            <a:r>
              <a:rPr lang="en-US" sz="2000" dirty="0"/>
              <a:t>• New Price: ₹649 </a:t>
            </a:r>
          </a:p>
          <a:p>
            <a:pPr marL="0" indent="0">
              <a:buNone/>
            </a:pPr>
            <a:r>
              <a:rPr lang="en-US" sz="2000" dirty="0"/>
              <a:t>• Demand Drop: 6.7% </a:t>
            </a:r>
          </a:p>
          <a:p>
            <a:pPr marL="0" indent="0">
              <a:buNone/>
            </a:pPr>
            <a:r>
              <a:rPr lang="en-US" sz="2000" dirty="0"/>
              <a:t>• New Bookings: 11.2 </a:t>
            </a:r>
          </a:p>
          <a:p>
            <a:pPr marL="0" indent="0">
              <a:buNone/>
            </a:pPr>
            <a:r>
              <a:rPr lang="en-US" sz="2000" dirty="0"/>
              <a:t>• Revenue Increase: +21.3%</a:t>
            </a:r>
            <a:endParaRPr lang="en-IN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EA4D04-7470-20AA-F649-01A1741A259B}"/>
              </a:ext>
            </a:extLst>
          </p:cNvPr>
          <p:cNvSpPr txBox="1"/>
          <p:nvPr/>
        </p:nvSpPr>
        <p:spPr>
          <a:xfrm>
            <a:off x="4243849" y="2448573"/>
            <a:ext cx="325201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20% Price Increase: </a:t>
            </a:r>
          </a:p>
          <a:p>
            <a:r>
              <a:rPr lang="en-US" sz="2000" dirty="0"/>
              <a:t>• New Price: ₹599 </a:t>
            </a:r>
          </a:p>
          <a:p>
            <a:r>
              <a:rPr lang="en-US" sz="2000" dirty="0"/>
              <a:t>• Demand Drop: 4.4% </a:t>
            </a:r>
          </a:p>
          <a:p>
            <a:r>
              <a:rPr lang="en-US" sz="2000" dirty="0"/>
              <a:t>• New Bookings: 11.5 </a:t>
            </a:r>
          </a:p>
          <a:p>
            <a:r>
              <a:rPr lang="en-US" sz="2000" dirty="0"/>
              <a:t>• Revenue Increase: +14.7%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0B3CC1-A249-41C9-5A47-707D8EC8449B}"/>
              </a:ext>
            </a:extLst>
          </p:cNvPr>
          <p:cNvSpPr txBox="1"/>
          <p:nvPr/>
        </p:nvSpPr>
        <p:spPr>
          <a:xfrm>
            <a:off x="838200" y="4355691"/>
            <a:ext cx="1106866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b="1" i="0" dirty="0">
              <a:solidFill>
                <a:srgbClr val="1F1F1F"/>
              </a:solidFill>
              <a:effectLst/>
            </a:endParaRPr>
          </a:p>
          <a:p>
            <a:r>
              <a:rPr lang="en-US" b="1" i="0" dirty="0">
                <a:solidFill>
                  <a:srgbClr val="1F1F1F"/>
                </a:solidFill>
                <a:effectLst/>
              </a:rPr>
              <a:t>RECOMMENDATIONS</a:t>
            </a:r>
            <a:r>
              <a:rPr lang="en-US" b="0" i="0" dirty="0">
                <a:solidFill>
                  <a:srgbClr val="1F1F1F"/>
                </a:solidFill>
                <a:effectLst/>
              </a:rPr>
              <a:t>: </a:t>
            </a:r>
          </a:p>
          <a:p>
            <a:pPr marL="342900" indent="-342900">
              <a:buAutoNum type="arabicPeriod"/>
            </a:pPr>
            <a:r>
              <a:rPr lang="en-US" b="0" i="0" dirty="0">
                <a:solidFill>
                  <a:srgbClr val="1F1F1F"/>
                </a:solidFill>
                <a:effectLst/>
              </a:rPr>
              <a:t>INCREASE prices for popular classes (80%+ occupancy) by 20-30% </a:t>
            </a:r>
          </a:p>
          <a:p>
            <a:pPr marL="342900" indent="-342900">
              <a:buAutoNum type="arabicPeriod"/>
            </a:pPr>
            <a:r>
              <a:rPr lang="en-US" b="0" i="0" dirty="0">
                <a:solidFill>
                  <a:srgbClr val="1F1F1F"/>
                </a:solidFill>
                <a:effectLst/>
              </a:rPr>
              <a:t>INCREASE prices during peak hours (6-9 PM) by 15-25% </a:t>
            </a:r>
          </a:p>
          <a:p>
            <a:pPr marL="342900" indent="-342900">
              <a:buAutoNum type="arabicPeriod"/>
            </a:pPr>
            <a:r>
              <a:rPr lang="en-US" b="0" i="0" dirty="0">
                <a:solidFill>
                  <a:srgbClr val="1F1F1F"/>
                </a:solidFill>
                <a:effectLst/>
              </a:rPr>
              <a:t>INCREASE weekend prices by 10-20% </a:t>
            </a:r>
          </a:p>
          <a:p>
            <a:pPr marL="342900" indent="-342900">
              <a:buAutoNum type="arabicPeriod"/>
            </a:pPr>
            <a:r>
              <a:rPr lang="en-US" b="0" i="0" dirty="0">
                <a:solidFill>
                  <a:srgbClr val="1F1F1F"/>
                </a:solidFill>
                <a:effectLst/>
              </a:rPr>
              <a:t>Monitor actual bookings to refine elasticity estimate 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58853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18E6006-6AC9-815D-4E0E-EF2F292CC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Strategy Comparison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4578F1A3-10B5-37B7-4731-C9956A374E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592686"/>
              </p:ext>
            </p:extLst>
          </p:nvPr>
        </p:nvGraphicFramePr>
        <p:xfrm>
          <a:off x="493295" y="1510992"/>
          <a:ext cx="10799825" cy="2500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9168">
                  <a:extLst>
                    <a:ext uri="{9D8B030D-6E8A-4147-A177-3AD203B41FA5}">
                      <a16:colId xmlns:a16="http://schemas.microsoft.com/office/drawing/2014/main" val="4136596203"/>
                    </a:ext>
                  </a:extLst>
                </a:gridCol>
                <a:gridCol w="1867218">
                  <a:extLst>
                    <a:ext uri="{9D8B030D-6E8A-4147-A177-3AD203B41FA5}">
                      <a16:colId xmlns:a16="http://schemas.microsoft.com/office/drawing/2014/main" val="652657699"/>
                    </a:ext>
                  </a:extLst>
                </a:gridCol>
                <a:gridCol w="2242666">
                  <a:extLst>
                    <a:ext uri="{9D8B030D-6E8A-4147-A177-3AD203B41FA5}">
                      <a16:colId xmlns:a16="http://schemas.microsoft.com/office/drawing/2014/main" val="2173828625"/>
                    </a:ext>
                  </a:extLst>
                </a:gridCol>
                <a:gridCol w="1504336">
                  <a:extLst>
                    <a:ext uri="{9D8B030D-6E8A-4147-A177-3AD203B41FA5}">
                      <a16:colId xmlns:a16="http://schemas.microsoft.com/office/drawing/2014/main" val="168756433"/>
                    </a:ext>
                  </a:extLst>
                </a:gridCol>
                <a:gridCol w="1766437">
                  <a:extLst>
                    <a:ext uri="{9D8B030D-6E8A-4147-A177-3AD203B41FA5}">
                      <a16:colId xmlns:a16="http://schemas.microsoft.com/office/drawing/2014/main" val="3323227992"/>
                    </a:ext>
                  </a:extLst>
                </a:gridCol>
              </a:tblGrid>
              <a:tr h="501488">
                <a:tc>
                  <a:txBody>
                    <a:bodyPr/>
                    <a:lstStyle/>
                    <a:p>
                      <a:r>
                        <a:rPr lang="en-IN" dirty="0"/>
                        <a:t>Strategy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Effect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Revenue 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Total Revenue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Revenue Change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3244552"/>
                  </a:ext>
                </a:extLst>
              </a:tr>
              <a:tr h="501488">
                <a:tc>
                  <a:txBody>
                    <a:bodyPr/>
                    <a:lstStyle/>
                    <a:p>
                      <a:r>
                        <a:rPr lang="en-IN" dirty="0"/>
                        <a:t>Current Fixed 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₹1,694,258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0%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0529146"/>
                  </a:ext>
                </a:extLst>
              </a:tr>
              <a:tr h="494618">
                <a:tc>
                  <a:txBody>
                    <a:bodyPr/>
                    <a:lstStyle/>
                    <a:p>
                      <a:r>
                        <a:rPr lang="en-IN" dirty="0"/>
                        <a:t>Dynamic Pricing (No Elasticity)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Raises prices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positive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₹2,100,819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+24%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2196742"/>
                  </a:ext>
                </a:extLst>
              </a:tr>
              <a:tr h="501488">
                <a:tc>
                  <a:txBody>
                    <a:bodyPr/>
                    <a:lstStyle/>
                    <a:p>
                      <a:r>
                        <a:rPr lang="en-IN" dirty="0"/>
                        <a:t>Wrong Elasticity (−1.2)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Too aggressive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Negative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₹1,420,444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-16.2%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9253860"/>
                  </a:ext>
                </a:extLst>
              </a:tr>
              <a:tr h="501488">
                <a:tc>
                  <a:txBody>
                    <a:bodyPr/>
                    <a:lstStyle/>
                    <a:p>
                      <a:r>
                        <a:rPr lang="en-US" dirty="0"/>
                        <a:t>Dynamic Pricing (Correct Elasticity)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Optimal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Highest Revenue Gain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₹1,977,201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+16.7%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387438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71CB8CE1-A85B-84DB-9FDE-3C39262C2CB2}"/>
              </a:ext>
            </a:extLst>
          </p:cNvPr>
          <p:cNvSpPr txBox="1"/>
          <p:nvPr/>
        </p:nvSpPr>
        <p:spPr>
          <a:xfrm>
            <a:off x="493295" y="4418765"/>
            <a:ext cx="1092118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Best performing strategy:</a:t>
            </a:r>
          </a:p>
          <a:p>
            <a:pPr>
              <a:buNone/>
            </a:pPr>
            <a:r>
              <a:rPr lang="en-US" dirty="0"/>
              <a:t>Dynamic Pricing with accurate elasticity → Highest revenue lift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Note- </a:t>
            </a:r>
            <a:r>
              <a:rPr lang="en-US" dirty="0"/>
              <a:t>'Dynamic Pricing (No Elasticity)' is MATHEMATICALLY IMPOSSIBLE It assumes demand doesn't change when prices change, which never happens in reality. With actual elasticity of -0.2218, use the 'Correct Elasticity' strategy.</a:t>
            </a:r>
          </a:p>
        </p:txBody>
      </p:sp>
    </p:spTree>
    <p:extLst>
      <p:ext uri="{BB962C8B-B14F-4D97-AF65-F5344CB8AC3E}">
        <p14:creationId xmlns:p14="http://schemas.microsoft.com/office/powerpoint/2010/main" val="27852328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E12F5-883A-7D6D-DE52-0B9F7911A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5920"/>
          </a:xfrm>
        </p:spPr>
        <p:txBody>
          <a:bodyPr>
            <a:normAutofit fontScale="90000"/>
          </a:bodyPr>
          <a:lstStyle/>
          <a:p>
            <a:r>
              <a:rPr lang="en-US" dirty="0"/>
              <a:t>Recommended Pricing Actions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0B4F0F-9088-014F-A511-7456EAAFE9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8194"/>
            <a:ext cx="10515600" cy="4898769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 1. High-Occupancy Classes (80%+)</a:t>
            </a:r>
          </a:p>
          <a:p>
            <a:pPr marL="0" indent="0">
              <a:buNone/>
            </a:pPr>
            <a:r>
              <a:rPr lang="en-US" dirty="0"/>
              <a:t>         -Increase price by 20–30%</a:t>
            </a:r>
          </a:p>
          <a:p>
            <a:pPr marL="0" indent="0">
              <a:buNone/>
            </a:pPr>
            <a:r>
              <a:rPr lang="en-US" dirty="0"/>
              <a:t>         -minimal drop in demand (&lt;7%)</a:t>
            </a:r>
          </a:p>
          <a:p>
            <a:pPr marL="0" indent="0">
              <a:buNone/>
            </a:pPr>
            <a:r>
              <a:rPr lang="en-US" b="1" dirty="0"/>
              <a:t>2. Peak Hour Pricing</a:t>
            </a:r>
          </a:p>
          <a:p>
            <a:pPr marL="0" indent="0">
              <a:buNone/>
            </a:pPr>
            <a:r>
              <a:rPr lang="en-US" dirty="0"/>
              <a:t>         -Morning (6–8 AM): +5–10%</a:t>
            </a:r>
          </a:p>
          <a:p>
            <a:pPr marL="0" indent="0">
              <a:buNone/>
            </a:pPr>
            <a:r>
              <a:rPr lang="en-US" dirty="0"/>
              <a:t>         -Evening (6–9 PM): +15–20%</a:t>
            </a:r>
          </a:p>
          <a:p>
            <a:pPr marL="0" indent="0">
              <a:buNone/>
            </a:pPr>
            <a:r>
              <a:rPr lang="en-US" b="1" dirty="0"/>
              <a:t>3. Weekend Pricing (Fri–Sun)</a:t>
            </a:r>
          </a:p>
          <a:p>
            <a:pPr marL="0" indent="0">
              <a:buNone/>
            </a:pPr>
            <a:r>
              <a:rPr lang="en-US" dirty="0"/>
              <a:t>        -Add 10–20% markup</a:t>
            </a:r>
          </a:p>
          <a:p>
            <a:pPr marL="0" indent="0">
              <a:buNone/>
            </a:pPr>
            <a:r>
              <a:rPr lang="en-US" dirty="0"/>
              <a:t>        -Weekend demand is emotionally driven → less sensitive</a:t>
            </a:r>
          </a:p>
          <a:p>
            <a:pPr marL="0" indent="0">
              <a:buNone/>
            </a:pPr>
            <a:r>
              <a:rPr lang="en-US" b="1" dirty="0"/>
              <a:t>4. Low-Demand Slots (2–4 PM)</a:t>
            </a:r>
          </a:p>
          <a:p>
            <a:pPr marL="0" indent="0">
              <a:buNone/>
            </a:pPr>
            <a:r>
              <a:rPr lang="en-US" dirty="0"/>
              <a:t>       -Apply 10–15% discounts(Happy hours offer)</a:t>
            </a:r>
          </a:p>
          <a:p>
            <a:pPr marL="0" indent="0">
              <a:buNone/>
            </a:pPr>
            <a:r>
              <a:rPr lang="en-US" dirty="0"/>
              <a:t>       -Boost occupancy, widen funnel</a:t>
            </a:r>
          </a:p>
          <a:p>
            <a:pPr marL="0" indent="0">
              <a:buNone/>
            </a:pPr>
            <a:r>
              <a:rPr lang="en-US" b="1" dirty="0"/>
              <a:t>5. Seasonal Adjustments</a:t>
            </a:r>
          </a:p>
          <a:p>
            <a:pPr marL="0" indent="0">
              <a:buNone/>
            </a:pPr>
            <a:r>
              <a:rPr lang="en-US" dirty="0"/>
              <a:t>      -Occupancy decline in weeks 13–26 </a:t>
            </a:r>
          </a:p>
          <a:p>
            <a:pPr marL="0" indent="0">
              <a:buNone/>
            </a:pPr>
            <a:r>
              <a:rPr lang="en-US" dirty="0"/>
              <a:t>      -Offer targeted promotions or small price reductions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06144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0D265-5495-FBAE-DFA4-D8A043E05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83572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Implementation Roadmap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D018F-1AD9-7FF1-739F-10F502C87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3226"/>
            <a:ext cx="10515600" cy="4945626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 sz="2900" b="1" dirty="0"/>
              <a:t>Weeks 1–2</a:t>
            </a:r>
          </a:p>
          <a:p>
            <a:pPr marL="0" indent="0">
              <a:buNone/>
            </a:pPr>
            <a:r>
              <a:rPr lang="en-IN" sz="2900" dirty="0"/>
              <a:t>   ✔ Test 15–20% increase for top 10% classes</a:t>
            </a:r>
            <a:br>
              <a:rPr lang="en-IN" sz="2900" dirty="0"/>
            </a:br>
            <a:r>
              <a:rPr lang="en-IN" sz="2900" dirty="0"/>
              <a:t>   ✔ Start with Aquafit, Body Combat, Pilates</a:t>
            </a:r>
          </a:p>
          <a:p>
            <a:pPr marL="0" indent="0">
              <a:buNone/>
            </a:pPr>
            <a:r>
              <a:rPr lang="en-IN" sz="2900" b="1" dirty="0"/>
              <a:t>Weeks 3–4</a:t>
            </a:r>
          </a:p>
          <a:p>
            <a:pPr marL="0" indent="0">
              <a:buNone/>
            </a:pPr>
            <a:r>
              <a:rPr lang="en-IN" sz="2900" dirty="0"/>
              <a:t>  ✔ Measure booking impact</a:t>
            </a:r>
            <a:br>
              <a:rPr lang="en-IN" sz="2900" dirty="0"/>
            </a:br>
            <a:r>
              <a:rPr lang="en-IN" sz="2900" dirty="0"/>
              <a:t>  ✔ Re-calibrate elasticity estimate</a:t>
            </a:r>
          </a:p>
          <a:p>
            <a:pPr marL="0" indent="0">
              <a:buNone/>
            </a:pPr>
            <a:r>
              <a:rPr lang="en-IN" sz="2900" b="1" dirty="0"/>
              <a:t>Weeks 5–6</a:t>
            </a:r>
          </a:p>
          <a:p>
            <a:pPr marL="0" indent="0">
              <a:buNone/>
            </a:pPr>
            <a:r>
              <a:rPr lang="en-IN" sz="2900" dirty="0"/>
              <a:t>  ✔ Roll out time-based pricing (+15% evenings)</a:t>
            </a:r>
          </a:p>
          <a:p>
            <a:pPr marL="0" indent="0">
              <a:buNone/>
            </a:pPr>
            <a:r>
              <a:rPr lang="en-IN" sz="2900" b="1" dirty="0"/>
              <a:t>Weeks 7–8</a:t>
            </a:r>
          </a:p>
          <a:p>
            <a:pPr marL="0" indent="0">
              <a:buNone/>
            </a:pPr>
            <a:r>
              <a:rPr lang="en-IN" sz="2900" dirty="0"/>
              <a:t>  ✔ Implement weekend pricing (+10–15%)</a:t>
            </a:r>
          </a:p>
          <a:p>
            <a:pPr marL="0" indent="0">
              <a:buNone/>
            </a:pPr>
            <a:r>
              <a:rPr lang="en-IN" sz="2900" b="1" dirty="0"/>
              <a:t>Ongoing</a:t>
            </a:r>
          </a:p>
          <a:p>
            <a:pPr marL="0" indent="0">
              <a:buNone/>
            </a:pPr>
            <a:r>
              <a:rPr lang="en-IN" sz="2900" dirty="0"/>
              <a:t>  ✔ Weekly demand forecasting</a:t>
            </a:r>
            <a:br>
              <a:rPr lang="en-IN" sz="2900" dirty="0"/>
            </a:br>
            <a:r>
              <a:rPr lang="en-IN" sz="2900" dirty="0"/>
              <a:t>  ✔ Monthly elasticity refresh</a:t>
            </a:r>
            <a:br>
              <a:rPr lang="en-IN" sz="2900" dirty="0"/>
            </a:br>
            <a:r>
              <a:rPr lang="en-IN" sz="2900" dirty="0"/>
              <a:t>  ✔ Continuous optimization</a:t>
            </a:r>
          </a:p>
          <a:p>
            <a:pPr marL="0" indent="0">
              <a:buNone/>
            </a:pPr>
            <a:endParaRPr lang="en-IN" sz="2100" dirty="0"/>
          </a:p>
          <a:p>
            <a:pPr marL="0" indent="0">
              <a:buNone/>
            </a:pPr>
            <a:r>
              <a:rPr lang="en-US" sz="3300" b="1" dirty="0"/>
              <a:t>EXPECTED RESULTS: </a:t>
            </a:r>
          </a:p>
          <a:p>
            <a:pPr marL="0" indent="0">
              <a:buNone/>
            </a:pPr>
            <a:r>
              <a:rPr lang="en-US" sz="3300" dirty="0"/>
              <a:t>Month 1-2: +5-10% revenue increase </a:t>
            </a:r>
          </a:p>
          <a:p>
            <a:pPr marL="0" indent="0">
              <a:buNone/>
            </a:pPr>
            <a:r>
              <a:rPr lang="en-US" sz="3300" dirty="0"/>
              <a:t>Month 3-4: +15-25% revenue increase</a:t>
            </a:r>
          </a:p>
          <a:p>
            <a:pPr marL="0" indent="0">
              <a:buNone/>
            </a:pPr>
            <a:r>
              <a:rPr lang="en-US" sz="3300" dirty="0"/>
              <a:t>Month 5-6: +25-35% revenue increase (with optimization)</a:t>
            </a:r>
          </a:p>
          <a:p>
            <a:pPr marL="0" indent="0">
              <a:buNone/>
            </a:pPr>
            <a:endParaRPr lang="en-IN" sz="33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24357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</TotalTime>
  <Words>924</Words>
  <Application>Microsoft Office PowerPoint</Application>
  <PresentationFormat>Widescreen</PresentationFormat>
  <Paragraphs>156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Dynamic Pricing Recommendations</vt:lpstr>
      <vt:lpstr>Executive Summary</vt:lpstr>
      <vt:lpstr>Understanding the Data</vt:lpstr>
      <vt:lpstr>Demand Behavior </vt:lpstr>
      <vt:lpstr>High-Demand Classes</vt:lpstr>
      <vt:lpstr>Dynamic Pricing Model Summary </vt:lpstr>
      <vt:lpstr>Price Elasticity Insight </vt:lpstr>
      <vt:lpstr> Example Pricing Outcome  Example= 20-20-20 2.45pm-3.45pm (Activity)  Current price - ₹499</vt:lpstr>
      <vt:lpstr>Strategy Comparison</vt:lpstr>
      <vt:lpstr>Recommended Pricing Actions </vt:lpstr>
      <vt:lpstr>Implementation Roadmap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Vishal Chowta</dc:creator>
  <cp:lastModifiedBy>Vishal Chowta</cp:lastModifiedBy>
  <cp:revision>1</cp:revision>
  <dcterms:created xsi:type="dcterms:W3CDTF">2025-12-07T10:51:03Z</dcterms:created>
  <dcterms:modified xsi:type="dcterms:W3CDTF">2025-12-07T15:05:01Z</dcterms:modified>
</cp:coreProperties>
</file>